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6" r:id="rId4"/>
    <p:sldId id="258" r:id="rId5"/>
    <p:sldId id="268" r:id="rId6"/>
    <p:sldId id="267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2455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31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SALARY SURVEY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788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Cleaning &amp; Insight Findings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394960" y="3794760"/>
            <a:ext cx="1371600" cy="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977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messy 28,000+ response survey to reliable insights on pay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 messy, real-world salary survey dataset and turn it into reliable insights through exploratory data analysis and visualization.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7200" y="299008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35584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28,225 raw survey responses </a:t>
            </a:r>
            <a:r>
              <a:rPr lang="en-US" sz="13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(AskAManager.org, 2021), </a:t>
            </a:r>
            <a:r>
              <a:rPr lang="en-US" sz="1350" b="1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original columns</a:t>
            </a:r>
            <a:r>
              <a:rPr lang="en-US" sz="13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mostly long Google Form question text.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468112" cy="4846320"/>
          </a:xfrm>
          <a:prstGeom prst="roundRect">
            <a:avLst>
              <a:gd name="adj" fmla="val 1509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105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 ANSWERED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922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995160" y="23042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more experience mean more money, and by how much per year?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95160" y="3145536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Master's/PhD worth it in dollar terms?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995160" y="398678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industries pay the best?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995160" y="482803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location change what you get paid?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2240" y="5650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95160" y="56692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job titles pay the most, and how consistent is pay within a title?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Salary Survey — Key Points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BE58E8-738A-DA0F-2BDE-8A19927B2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48" y="1143000"/>
            <a:ext cx="11687367" cy="4468146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7C3AB2A3-4257-6331-1C16-8A4C456DDA25}"/>
              </a:ext>
            </a:extLst>
          </p:cNvPr>
          <p:cNvSpPr/>
          <p:nvPr/>
        </p:nvSpPr>
        <p:spPr>
          <a:xfrm>
            <a:off x="299987" y="32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Dataset Overview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344915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Cleaning Highlights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</a:t>
            </a:r>
            <a:endParaRPr lang="en-US" sz="14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of 18 raw columns removed (metadata, redundant, or out-of-scope free text); the 9 kept were renamed from long question text to short field names.
</a:t>
            </a:r>
            <a:endParaRPr lang="en-US" sz="14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standardization: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88920"/>
          <a:ext cx="5486400" cy="12344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Field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Before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After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</a:rPr>
                        <a:t>industry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A3F"/>
                          </a:solidFill>
                        </a:rPr>
                        <a:t>1,225 unique values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A3F"/>
                          </a:solidFill>
                        </a:rPr>
                        <a:t>24 categories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</a:rPr>
                        <a:t>job_title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A3F"/>
                          </a:solidFill>
                        </a:rPr>
                        <a:t>14,434 unique values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A3F"/>
                          </a:solidFill>
                        </a:rPr>
                        <a:t>41 categories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</a:rPr>
                        <a:t>country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A3F"/>
                          </a:solidFill>
                        </a:rPr>
                        <a:t>363 unique values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A3F"/>
                          </a:solidFill>
                        </a:rPr>
                        <a:t>11 categories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6052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field stored as text with commas (“55,000”) — converted to numeric.</a:t>
            </a:r>
            <a:endParaRPr lang="en-US" sz="1450" dirty="0"/>
          </a:p>
          <a:p>
            <a:pPr marL="228600" indent="-2286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Currency: dropped the ~0.6% of rows with Other/unspecified currency — no reliable value to compare.</a:t>
            </a:r>
            <a:endParaRPr lang="en-US" sz="1450" dirty="0"/>
          </a:p>
          <a:p>
            <a:pPr marL="228600" indent="-2286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 handled deliberately: education &amp; gender nulls (&lt;1%) labeled “Not Specified,” not imputed — avoids fabricating demographic data.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6419088" y="2290572"/>
            <a:ext cx="5193792" cy="2011680"/>
          </a:xfrm>
          <a:prstGeom prst="roundRect">
            <a:avLst>
              <a:gd name="adj" fmla="val 3137"/>
            </a:avLst>
          </a:prstGeom>
          <a:solidFill>
            <a:srgbClr val="FBF1E7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PH" dirty="0"/>
          </a:p>
        </p:txBody>
      </p:sp>
      <p:sp>
        <p:nvSpPr>
          <p:cNvPr id="7" name="Text 4"/>
          <p:cNvSpPr/>
          <p:nvPr/>
        </p:nvSpPr>
        <p:spPr>
          <a:xfrm>
            <a:off x="6675120" y="2383446"/>
            <a:ext cx="476247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HANDLING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675120" y="2584076"/>
            <a:ext cx="4762474" cy="86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PH" sz="1400" dirty="0"/>
              <a:t>Salaries outside the $10,000–$2,000,000 range were flagged using a fixed rule, instead of a statistical one that could misfire on skewed income data.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675120" y="3506634"/>
            <a:ext cx="4762474" cy="315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4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 rows </a:t>
            </a: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(0.74%)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19088" y="4389120"/>
            <a:ext cx="5285232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647688" y="45537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ANALYSIS-READY DATASET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647688" y="48463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27,841 rows × 9 columns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647688" y="5394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typed (categoricals, ordered categoricals for age &amp; experience) — zero remaining nulls.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Salary Survey — Key Points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E5C54717-F367-4C64-3140-468714DB1779}"/>
              </a:ext>
            </a:extLst>
          </p:cNvPr>
          <p:cNvSpPr/>
          <p:nvPr/>
        </p:nvSpPr>
        <p:spPr>
          <a:xfrm>
            <a:off x="6547104" y="808763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RAW COLUMN NAME</a:t>
            </a:r>
            <a:endParaRPr lang="en-US" sz="1050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9E2730CA-0C13-0291-58EC-81A10F44E50A}"/>
              </a:ext>
            </a:extLst>
          </p:cNvPr>
          <p:cNvSpPr/>
          <p:nvPr/>
        </p:nvSpPr>
        <p:spPr>
          <a:xfrm>
            <a:off x="6556248" y="835874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is your annual salary? (You'll indicate the currency in a later question. If you are part-time or hourly, please enter an annualized equivalent — what you would earn if you worked the job 40 hours a week, 52 weeks a year.)”</a:t>
            </a:r>
            <a:endParaRPr lang="en-US" sz="105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56A83B3B-023B-1465-44B2-2DA23AD66FFB}"/>
              </a:ext>
            </a:extLst>
          </p:cNvPr>
          <p:cNvSpPr/>
          <p:nvPr/>
        </p:nvSpPr>
        <p:spPr>
          <a:xfrm>
            <a:off x="6565392" y="1673513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renamed to: annual_salary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54B3BB-397F-9BE3-3915-75892DF41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48" y="961711"/>
            <a:ext cx="8885213" cy="3011835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96AB7257-E155-2CD2-276F-C3E4663E90A2}"/>
              </a:ext>
            </a:extLst>
          </p:cNvPr>
          <p:cNvSpPr/>
          <p:nvPr/>
        </p:nvSpPr>
        <p:spPr>
          <a:xfrm>
            <a:off x="175574" y="32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Data Raw Columns</a:t>
            </a:r>
            <a:endParaRPr lang="en-US" sz="3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F6A636-BB52-7A48-7906-BDADA8782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574" y="4473246"/>
            <a:ext cx="2400508" cy="2194750"/>
          </a:xfrm>
          <a:prstGeom prst="rect">
            <a:avLst/>
          </a:prstGeom>
        </p:spPr>
      </p:pic>
      <p:sp>
        <p:nvSpPr>
          <p:cNvPr id="11" name="Text 0">
            <a:extLst>
              <a:ext uri="{FF2B5EF4-FFF2-40B4-BE49-F238E27FC236}">
                <a16:creationId xmlns:a16="http://schemas.microsoft.com/office/drawing/2014/main" id="{6B832414-40B5-3142-17B7-174100E7E342}"/>
              </a:ext>
            </a:extLst>
          </p:cNvPr>
          <p:cNvSpPr/>
          <p:nvPr/>
        </p:nvSpPr>
        <p:spPr>
          <a:xfrm>
            <a:off x="175574" y="3870062"/>
            <a:ext cx="37434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After Data Cleaning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388236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C1D9DA-8940-4E76-3545-6A0D87E60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38" y="845596"/>
            <a:ext cx="10889924" cy="5166808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64A8F005-E9F9-5DD4-C460-7C792AAA5B13}"/>
              </a:ext>
            </a:extLst>
          </p:cNvPr>
          <p:cNvSpPr/>
          <p:nvPr/>
        </p:nvSpPr>
        <p:spPr>
          <a:xfrm>
            <a:off x="781250" y="14856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Cleaned Dataset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1738681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98448" y="411480"/>
            <a:ext cx="10314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 → Salary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98448" y="1042416"/>
            <a:ext cx="10314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more experience means more money.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0" y="1737360"/>
            <a:ext cx="3886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0000"/>
              </a:lnSpc>
              <a:buSzPct val="100000"/>
              <a:buChar char="•"/>
            </a:pPr>
            <a:r>
              <a:rPr lang="en-PH" sz="1200" dirty="0"/>
              <a:t>Median salary rises from $55,000 (1 year or less) to $104,000 (21-30 years). </a:t>
            </a:r>
          </a:p>
          <a:p>
            <a:pPr marL="203200" indent="-203200">
              <a:lnSpc>
                <a:spcPct val="100000"/>
              </a:lnSpc>
              <a:buSzPct val="100000"/>
              <a:buChar char="•"/>
            </a:pPr>
            <a:r>
              <a:rPr lang="en-PH" sz="1200" dirty="0"/>
              <a:t>Pay grows fastest in the first 10-20 years, then levels off, dipping slightly at 31-40 years ($100,000) before ticking back up at 41+ years ($108,000).</a:t>
            </a:r>
          </a:p>
        </p:txBody>
      </p:sp>
      <p:sp>
        <p:nvSpPr>
          <p:cNvPr id="8" name="Shape 5"/>
          <p:cNvSpPr/>
          <p:nvPr/>
        </p:nvSpPr>
        <p:spPr>
          <a:xfrm>
            <a:off x="7772400" y="5120640"/>
            <a:ext cx="3886200" cy="1051560"/>
          </a:xfrm>
          <a:prstGeom prst="roundRect">
            <a:avLst>
              <a:gd name="adj" fmla="val 6087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8001000" y="52486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01000" y="55321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PH" sz="1400" dirty="0">
                <a:solidFill>
                  <a:schemeClr val="bg1"/>
                </a:solidFill>
              </a:rPr>
              <a:t>More experience means more pay, but only up to a point, then it levels off.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Salary Survey — Key Points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83C865B-F543-92F7-2BA1-FA21D089B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53" y="1797287"/>
            <a:ext cx="7006389" cy="43789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98448" y="411480"/>
            <a:ext cx="10314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 → Salary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98448" y="1042416"/>
            <a:ext cx="10314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Master's degree is worth more, but the gap is modest.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0" y="1737360"/>
            <a:ext cx="3886200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700"/>
              </a:lnSpc>
              <a:buSzPct val="100000"/>
            </a:pPr>
            <a:r>
              <a:rPr lang="en-US" sz="1350" b="1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</a:t>
            </a:r>
          </a:p>
          <a:p>
            <a:pPr>
              <a:lnSpc>
                <a:spcPct val="100000"/>
              </a:lnSpc>
              <a:buSzPct val="100000"/>
            </a:pPr>
            <a:r>
              <a:rPr lang="en-PH" sz="1200" dirty="0"/>
              <a:t>Median salary rises with education, from $55,467 (High School) to $120,000 (Professional degree). The biggest jump is College → Professional degree (+$45,000). PhD ($97,000) actually earns less than Professional degree ($120,000).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772400" y="5120640"/>
            <a:ext cx="3886200" cy="1051560"/>
          </a:xfrm>
          <a:prstGeom prst="roundRect">
            <a:avLst>
              <a:gd name="adj" fmla="val 6087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8001000" y="52486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01000" y="55321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salaries overlap heavily across education levels — a degree alone doesn't guarantee higher pay.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Salary Survey — Key Points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FB761C-6008-5D2C-444A-DE5EB7126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626368"/>
            <a:ext cx="6646244" cy="41539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98448" y="411480"/>
            <a:ext cx="10314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→ Salary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98448" y="1042416"/>
            <a:ext cx="10314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varies sharply by industry (≥100 responses each).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0" y="17373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2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$112,500</a:t>
            </a:r>
            <a:endParaRPr lang="en-US" sz="24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 Technology — highest paying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0" y="2697480"/>
            <a:ext cx="3886200" cy="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0" y="283464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2400" b="1" dirty="0">
                <a:solidFill>
                  <a:srgbClr val="B44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$49,000</a:t>
            </a:r>
            <a:endParaRPr lang="en-US" sz="24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Retail/Sales — lowest paying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0" y="379476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notable: Legal ($90,000), Business/Consulting ($88,000), Engineering/Manufacturing ($83,500).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772400" y="5120640"/>
            <a:ext cx="3886200" cy="1051560"/>
          </a:xfrm>
          <a:prstGeom prst="roundRect">
            <a:avLst>
              <a:gd name="adj" fmla="val 6087"/>
            </a:avLst>
          </a:prstGeom>
          <a:solidFill>
            <a:srgbClr val="1E2761"/>
          </a:solidFill>
          <a:ln/>
        </p:spPr>
      </p:sp>
      <p:sp>
        <p:nvSpPr>
          <p:cNvPr id="12" name="Text 9"/>
          <p:cNvSpPr/>
          <p:nvPr/>
        </p:nvSpPr>
        <p:spPr>
          <a:xfrm>
            <a:off x="8001000" y="52486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001000" y="55321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clearly depends on industry — IT tops the list, Retail/Sales is lowest.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Salary Survey — Key Points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DB53829-73ED-7086-CD64-0A9B9C415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787" y="1473537"/>
            <a:ext cx="6357486" cy="49612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98448" y="411480"/>
            <a:ext cx="10314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→ Salary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98448" y="1042416"/>
            <a:ext cx="10314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but the comparison comes with caveats.</a:t>
            </a:r>
            <a:endParaRPr lang="en-US" sz="1300" dirty="0"/>
          </a:p>
        </p:txBody>
      </p:sp>
      <p:pic>
        <p:nvPicPr>
          <p:cNvPr id="6" name="Image 0" descr="charts/chart4_coun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903720" cy="4297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0" y="173736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$78,800</a:t>
            </a:r>
            <a:endParaRPr lang="en-US" sz="22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United States — highest approx. median pay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772400" y="2651760"/>
            <a:ext cx="3886200" cy="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0" y="278892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$50,760</a:t>
            </a:r>
            <a:endParaRPr lang="en-US" sz="22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France — lowest approx. median pay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772400" y="4160520"/>
            <a:ext cx="3886200" cy="2011680"/>
          </a:xfrm>
          <a:prstGeom prst="roundRect">
            <a:avLst>
              <a:gd name="adj" fmla="val 3182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8001000" y="428853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01000" y="4572000"/>
            <a:ext cx="3429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of all responses are from the US, so non-US medians rest on much smaller samples. Currency conversion used fixed, approximate rates — not adjusted for cost of living.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Salary Survey — Key Points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98448" y="411480"/>
            <a:ext cx="10314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Title → Pay Level vs. Consistency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98448" y="1042416"/>
            <a:ext cx="10314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indicates the ballpark, not the exact number.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0" y="17373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MEDIAN PAY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0" y="201168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VP/Senior Leadership ($152,000), Software Engineer ($135,600), Executive C-Suite ($135,000)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0" y="29260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CONSISTENT (NARROW SPREAD)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0" y="320040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Administrative Assistant, Customer Service, Coordinator — lower pay, but tightly clustered.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0" y="41148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CONSISTENT (WIDE SPREAD)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772400" y="438912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(C-Suite), VP/Senior Leadership — high pay on average, but wide person-to-person variation.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0" y="5349240"/>
            <a:ext cx="3886200" cy="822960"/>
          </a:xfrm>
          <a:prstGeom prst="roundRect">
            <a:avLst>
              <a:gd name="adj" fmla="val 7778"/>
            </a:avLst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8001000" y="54772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01000" y="57607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title indicates the ballpark, not the exact number — especially at senior levels.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Salary Survey — Key Points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8C67C93-4B76-FD07-3AE5-914E9D5F7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" y="1429882"/>
            <a:ext cx="6708608" cy="52178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Findings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1091672" cy="914400"/>
          </a:xfrm>
          <a:prstGeom prst="rect">
            <a:avLst/>
          </a:prstGeom>
          <a:solidFill>
            <a:srgbClr val="141B4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383280" y="160020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growth, plateaus after ~20 years.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11091672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83280" y="251460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Master's/PhD pays more, but overlap between levels is significant.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11091672" cy="914400"/>
          </a:xfrm>
          <a:prstGeom prst="rect">
            <a:avLst/>
          </a:prstGeom>
          <a:solidFill>
            <a:srgbClr val="141B4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83280" y="342900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pay gap — IT tops the list, Retail/Sales is lowest.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91672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343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434340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differs by country, but data is US-dominated and not cost-of-living adjusted.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solidFill>
            <a:srgbClr val="141B49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2578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Title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83280" y="525780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pay level but not consistency — some titles vary widely.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Salary Survey — Key Points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to Mention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993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08760" y="1737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survey data — no way to verify accuracy.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136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08760" y="2880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Heavily US-skewed sample (~83% of responses).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79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08760" y="4023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conversion for country comparison is approximate, not cost-of-living adjusted.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5166360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5422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08760" y="5166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dirty="0">
                <a:solidFill>
                  <a:srgbClr val="26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fields (industry, job title, country) required keyword-based categorization, which may misclassify edge cases.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Salary Survey — Key Points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986</Words>
  <Application>Microsoft Office PowerPoint</Application>
  <PresentationFormat>Widescreen</PresentationFormat>
  <Paragraphs>143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Allen Paligutan</cp:lastModifiedBy>
  <cp:revision>10</cp:revision>
  <dcterms:created xsi:type="dcterms:W3CDTF">2026-09-09T10:54:53Z</dcterms:created>
  <dcterms:modified xsi:type="dcterms:W3CDTF">2026-09-09T17:34:28Z</dcterms:modified>
</cp:coreProperties>
</file>